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49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50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48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1D463EC-81A1-4E3C-93CB-6F5564D154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formato do texto do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título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5435CB8-D66D-4188-B371-FE0014D5F2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16B32AC-4F61-4D73-8FEC-5402C0547F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CAF94-75D5-41F3-AB8E-8BB6961D34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17C6C08-43CA-4E8B-A9A2-6E02676ABA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3A44530-0846-4DC7-BC20-DA5135A443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B70FAFD-8E67-4268-A896-E354522A41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22092D6-0666-47E7-BC88-6DC598DF2C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8A08654-4D87-4D82-B424-A2B9CC1CDB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6A5154D-8B89-4193-9F29-4784A85EBC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69133ED-E7DE-4D31-A6DD-5028FDE46B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822960" y="155448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ATIVIDADE AVALIATIVA · 2º ANO · DESENVOLVIMENTO DE SISTEMAS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822960" y="1965960"/>
            <a:ext cx="105148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Projeto de Engenharia de Software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822960" y="278892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i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Da identificação do problema ao planejamento de um sistema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822960" y="3520440"/>
            <a:ext cx="10514880" cy="248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822960" y="384048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Nome do sistema: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3291840" y="3840480"/>
            <a:ext cx="7771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_______________________________________________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822960" y="427932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Integrantes: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291840" y="4279320"/>
            <a:ext cx="7771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_______________________________________________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822960" y="471816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Professor(a):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3291840" y="4718160"/>
            <a:ext cx="7771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Ricardo Varjão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822960" y="515736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Turma/Série: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3291840" y="5157360"/>
            <a:ext cx="7771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2º Ano - D.S.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822960" y="559620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Data: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6"/>
          <p:cNvSpPr/>
          <p:nvPr/>
        </p:nvSpPr>
        <p:spPr>
          <a:xfrm>
            <a:off x="3291840" y="5596200"/>
            <a:ext cx="7771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_______________________________________________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7"/>
          <p:cNvSpPr/>
          <p:nvPr/>
        </p:nvSpPr>
        <p:spPr>
          <a:xfrm>
            <a:off x="822960" y="630936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Este arquivo acompanha as 4 partes da atividade. Preencham cada slide conforme forem concluindo as tarefas.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Como usar este arquivo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1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502920" y="128016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Orientações gerais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9"/>
          <p:cNvSpPr/>
          <p:nvPr/>
        </p:nvSpPr>
        <p:spPr>
          <a:xfrm>
            <a:off x="502920" y="173736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•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822960" y="1737360"/>
            <a:ext cx="10789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Trabalhem em equipes de 3 a 5 estudantes.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1"/>
          <p:cNvSpPr/>
          <p:nvPr/>
        </p:nvSpPr>
        <p:spPr>
          <a:xfrm>
            <a:off x="502920" y="230436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•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2"/>
          <p:cNvSpPr/>
          <p:nvPr/>
        </p:nvSpPr>
        <p:spPr>
          <a:xfrm>
            <a:off x="822960" y="2304360"/>
            <a:ext cx="10789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Escolham um problema real do cotidiano — não comecem pela tecnologia.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3"/>
          <p:cNvSpPr/>
          <p:nvPr/>
        </p:nvSpPr>
        <p:spPr>
          <a:xfrm>
            <a:off x="502920" y="287136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•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4"/>
          <p:cNvSpPr/>
          <p:nvPr/>
        </p:nvSpPr>
        <p:spPr>
          <a:xfrm>
            <a:off x="822960" y="2871360"/>
            <a:ext cx="10789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Primeiro compreendam o problema e os usuários, depois pensem na solução.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5"/>
          <p:cNvSpPr/>
          <p:nvPr/>
        </p:nvSpPr>
        <p:spPr>
          <a:xfrm>
            <a:off x="502920" y="343800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•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6"/>
          <p:cNvSpPr/>
          <p:nvPr/>
        </p:nvSpPr>
        <p:spPr>
          <a:xfrm>
            <a:off x="822960" y="3438000"/>
            <a:ext cx="10789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As respostas devem ser escritas com as palavras da própria equipe.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7"/>
          <p:cNvSpPr/>
          <p:nvPr/>
        </p:nvSpPr>
        <p:spPr>
          <a:xfrm>
            <a:off x="502920" y="400500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•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8"/>
          <p:cNvSpPr/>
          <p:nvPr/>
        </p:nvSpPr>
        <p:spPr>
          <a:xfrm>
            <a:off x="822960" y="4005000"/>
            <a:ext cx="10789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Os desenhos das telas e diagramas não precisam ser artísticos; precisam mostrar como o sistema funciona.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9"/>
          <p:cNvSpPr/>
          <p:nvPr/>
        </p:nvSpPr>
        <p:spPr>
          <a:xfrm>
            <a:off x="502920" y="457200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•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0"/>
          <p:cNvSpPr/>
          <p:nvPr/>
        </p:nvSpPr>
        <p:spPr>
          <a:xfrm>
            <a:off x="822960" y="4572000"/>
            <a:ext cx="10789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Este arquivo segue a mesma ordem das Partes 1 a 4 da atividade. Preencham direto nos campos indicados ("Clique aqui e escreva...") ou nas tabelas.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1"/>
          <p:cNvSpPr/>
          <p:nvPr/>
        </p:nvSpPr>
        <p:spPr>
          <a:xfrm>
            <a:off x="502920" y="513900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•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2"/>
          <p:cNvSpPr/>
          <p:nvPr/>
        </p:nvSpPr>
        <p:spPr>
          <a:xfrm>
            <a:off x="822960" y="5139000"/>
            <a:ext cx="10789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Não apaguem os títulos e perguntas — apenas completem as respostas.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3"/>
          <p:cNvSpPr/>
          <p:nvPr/>
        </p:nvSpPr>
        <p:spPr>
          <a:xfrm>
            <a:off x="502920" y="570600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•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4"/>
          <p:cNvSpPr/>
          <p:nvPr/>
        </p:nvSpPr>
        <p:spPr>
          <a:xfrm>
            <a:off x="822960" y="5706000"/>
            <a:ext cx="10789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Protótipos de telas e diagramas podem ser colados como imagem (print, foto ou desenho digital) nos quadros pontilhados.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2"/>
          <p:cNvSpPr/>
          <p:nvPr/>
        </p:nvSpPr>
        <p:spPr>
          <a:xfrm>
            <a:off x="0" y="324612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822960" y="251460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822960" y="2880360"/>
            <a:ext cx="10514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Entendendo o Problema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822960" y="3520440"/>
            <a:ext cx="10514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Etapas 1 a 5 — investigação do problema e da persona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2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 Área escolhida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3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8"/>
          <p:cNvSpPr/>
          <p:nvPr/>
        </p:nvSpPr>
        <p:spPr>
          <a:xfrm>
            <a:off x="502920" y="141732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Área ou tema escolhido pela equipe: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9"/>
          <p:cNvSpPr/>
          <p:nvPr/>
        </p:nvSpPr>
        <p:spPr>
          <a:xfrm>
            <a:off x="502920" y="1764720"/>
            <a:ext cx="11154960" cy="93204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 Brainstorming de problemas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4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8"/>
          <p:cNvSpPr/>
          <p:nvPr/>
        </p:nvSpPr>
        <p:spPr>
          <a:xfrm>
            <a:off x="502920" y="123444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Listem pelo menos cinco problemas relacionados à área escolhida.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6" name="Table 9"/>
          <p:cNvGraphicFramePr/>
          <p:nvPr/>
        </p:nvGraphicFramePr>
        <p:xfrm>
          <a:off x="502920" y="1691640"/>
          <a:ext cx="11155320" cy="4389120"/>
        </p:xfrm>
        <a:graphic>
          <a:graphicData uri="http://schemas.openxmlformats.org/drawingml/2006/table">
            <a:tbl>
              <a:tblPr/>
              <a:tblGrid>
                <a:gridCol w="822960"/>
                <a:gridCol w="5669280"/>
                <a:gridCol w="4663440"/>
              </a:tblGrid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Nº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Problema identificado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Quem é afetado?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3. Problema escolhido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5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8"/>
          <p:cNvSpPr/>
          <p:nvPr/>
        </p:nvSpPr>
        <p:spPr>
          <a:xfrm>
            <a:off x="502920" y="128016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3.1 Qual problema a equipe escolheu?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9"/>
          <p:cNvSpPr/>
          <p:nvPr/>
        </p:nvSpPr>
        <p:spPr>
          <a:xfrm>
            <a:off x="502920" y="1627560"/>
            <a:ext cx="11154960" cy="62100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0"/>
          <p:cNvSpPr/>
          <p:nvPr/>
        </p:nvSpPr>
        <p:spPr>
          <a:xfrm>
            <a:off x="502920" y="230436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3.2 Quem enfrenta esse problema?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11"/>
          <p:cNvSpPr/>
          <p:nvPr/>
        </p:nvSpPr>
        <p:spPr>
          <a:xfrm>
            <a:off x="502920" y="2651760"/>
            <a:ext cx="11154960" cy="62100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2"/>
          <p:cNvSpPr/>
          <p:nvPr/>
        </p:nvSpPr>
        <p:spPr>
          <a:xfrm>
            <a:off x="502920" y="332856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3.3 Onde e quando ele acontece?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13"/>
          <p:cNvSpPr/>
          <p:nvPr/>
        </p:nvSpPr>
        <p:spPr>
          <a:xfrm>
            <a:off x="502920" y="3675960"/>
            <a:ext cx="11154960" cy="62100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4"/>
          <p:cNvSpPr/>
          <p:nvPr/>
        </p:nvSpPr>
        <p:spPr>
          <a:xfrm>
            <a:off x="502920" y="435240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3.4 Quais dificuldades ou consequências ele causa?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15"/>
          <p:cNvSpPr/>
          <p:nvPr/>
        </p:nvSpPr>
        <p:spPr>
          <a:xfrm>
            <a:off x="502920" y="4700160"/>
            <a:ext cx="11154960" cy="62100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6"/>
          <p:cNvSpPr/>
          <p:nvPr/>
        </p:nvSpPr>
        <p:spPr>
          <a:xfrm>
            <a:off x="502920" y="537660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3.5 Como esse problema é resolvido atualmente?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17"/>
          <p:cNvSpPr/>
          <p:nvPr/>
        </p:nvSpPr>
        <p:spPr>
          <a:xfrm>
            <a:off x="502920" y="5724000"/>
            <a:ext cx="11154960" cy="62100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4. Investigando a causa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6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8"/>
          <p:cNvSpPr/>
          <p:nvPr/>
        </p:nvSpPr>
        <p:spPr>
          <a:xfrm>
            <a:off x="502920" y="1280160"/>
            <a:ext cx="11154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Perguntem "por quê?" algumas vezes para tentar descobrir a causa principal.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9"/>
          <p:cNvSpPr/>
          <p:nvPr/>
        </p:nvSpPr>
        <p:spPr>
          <a:xfrm>
            <a:off x="502920" y="182880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Por que o problema acontece?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10"/>
          <p:cNvSpPr/>
          <p:nvPr/>
        </p:nvSpPr>
        <p:spPr>
          <a:xfrm>
            <a:off x="502920" y="2176200"/>
            <a:ext cx="11154960" cy="106920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1"/>
          <p:cNvSpPr/>
          <p:nvPr/>
        </p:nvSpPr>
        <p:spPr>
          <a:xfrm>
            <a:off x="502920" y="333756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Por que essa situação continua acontecendo?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12"/>
          <p:cNvSpPr/>
          <p:nvPr/>
        </p:nvSpPr>
        <p:spPr>
          <a:xfrm>
            <a:off x="502920" y="3684960"/>
            <a:ext cx="11154960" cy="106920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3"/>
          <p:cNvSpPr/>
          <p:nvPr/>
        </p:nvSpPr>
        <p:spPr>
          <a:xfrm>
            <a:off x="502920" y="484632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Qual parece ser a principal causa?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14"/>
          <p:cNvSpPr/>
          <p:nvPr/>
        </p:nvSpPr>
        <p:spPr>
          <a:xfrm>
            <a:off x="502920" y="5193720"/>
            <a:ext cx="11154960" cy="106920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5. Persona — exemplo de usuário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7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8"/>
          <p:cNvSpPr/>
          <p:nvPr/>
        </p:nvSpPr>
        <p:spPr>
          <a:xfrm>
            <a:off x="502920" y="123444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Criem uma pessoa fictícia que poderia utilizar o sistema.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6" name="Table 9"/>
          <p:cNvGraphicFramePr/>
          <p:nvPr/>
        </p:nvGraphicFramePr>
        <p:xfrm>
          <a:off x="502920" y="1645920"/>
          <a:ext cx="11155320" cy="4480560"/>
        </p:xfrm>
        <a:graphic>
          <a:graphicData uri="http://schemas.openxmlformats.org/drawingml/2006/table">
            <a:tbl>
              <a:tblPr/>
              <a:tblGrid>
                <a:gridCol w="3291840"/>
                <a:gridCol w="7863840"/>
              </a:tblGrid>
              <a:tr h="6400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Campo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Resposta da equipe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6400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Nome fictício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Idade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O que faz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Dificuldade que enfrenta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O que gostaria de conseguir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Como resolve atualmente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2"/>
          <p:cNvSpPr/>
          <p:nvPr/>
        </p:nvSpPr>
        <p:spPr>
          <a:xfrm>
            <a:off x="0" y="324612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3"/>
          <p:cNvSpPr/>
          <p:nvPr/>
        </p:nvSpPr>
        <p:spPr>
          <a:xfrm>
            <a:off x="822960" y="251460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4"/>
          <p:cNvSpPr/>
          <p:nvPr/>
        </p:nvSpPr>
        <p:spPr>
          <a:xfrm>
            <a:off x="822960" y="2880360"/>
            <a:ext cx="10514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Planejando a Solução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5"/>
          <p:cNvSpPr/>
          <p:nvPr/>
        </p:nvSpPr>
        <p:spPr>
          <a:xfrm>
            <a:off x="822960" y="3520440"/>
            <a:ext cx="10514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Etapas 6 a 12 — proposta, identidade e funcionalidades do sistema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8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6. Proposta do sistema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9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8"/>
          <p:cNvSpPr/>
          <p:nvPr/>
        </p:nvSpPr>
        <p:spPr>
          <a:xfrm>
            <a:off x="502920" y="128016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6.1 O sistema será um site, aplicativo, programa ou outro tipo de solução?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9"/>
          <p:cNvSpPr/>
          <p:nvPr/>
        </p:nvSpPr>
        <p:spPr>
          <a:xfrm>
            <a:off x="502920" y="1627560"/>
            <a:ext cx="11154960" cy="42912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0"/>
          <p:cNvSpPr/>
          <p:nvPr/>
        </p:nvSpPr>
        <p:spPr>
          <a:xfrm>
            <a:off x="502920" y="214884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6.2 Quem utilizará o sistema?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11"/>
          <p:cNvSpPr/>
          <p:nvPr/>
        </p:nvSpPr>
        <p:spPr>
          <a:xfrm>
            <a:off x="502920" y="2496240"/>
            <a:ext cx="11154960" cy="42912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2"/>
          <p:cNvSpPr/>
          <p:nvPr/>
        </p:nvSpPr>
        <p:spPr>
          <a:xfrm>
            <a:off x="502920" y="301752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6.3 Como o sistema ajudará a resolver o problema?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13"/>
          <p:cNvSpPr/>
          <p:nvPr/>
        </p:nvSpPr>
        <p:spPr>
          <a:xfrm>
            <a:off x="502920" y="3364920"/>
            <a:ext cx="11154960" cy="42912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4"/>
          <p:cNvSpPr/>
          <p:nvPr/>
        </p:nvSpPr>
        <p:spPr>
          <a:xfrm>
            <a:off x="502920" y="393192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Completem as frases: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5"/>
          <p:cNvSpPr/>
          <p:nvPr/>
        </p:nvSpPr>
        <p:spPr>
          <a:xfrm>
            <a:off x="502920" y="4251960"/>
            <a:ext cx="11154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Nossa proposta é criar um sistema para _____________________________________________.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6"/>
          <p:cNvSpPr/>
          <p:nvPr/>
        </p:nvSpPr>
        <p:spPr>
          <a:xfrm>
            <a:off x="502920" y="4581000"/>
            <a:ext cx="11154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Ele será utilizado por ___________________________________________________________.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7"/>
          <p:cNvSpPr/>
          <p:nvPr/>
        </p:nvSpPr>
        <p:spPr>
          <a:xfrm>
            <a:off x="502920" y="4910400"/>
            <a:ext cx="11154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O sistema ajudará a ____________________________________________________________.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7. Identidade do projeto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10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8"/>
          <p:cNvSpPr/>
          <p:nvPr/>
        </p:nvSpPr>
        <p:spPr>
          <a:xfrm>
            <a:off x="502920" y="128016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Nome do sistema: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9"/>
          <p:cNvSpPr/>
          <p:nvPr/>
        </p:nvSpPr>
        <p:spPr>
          <a:xfrm>
            <a:off x="502920" y="1627560"/>
            <a:ext cx="11154960" cy="42912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0"/>
          <p:cNvSpPr/>
          <p:nvPr/>
        </p:nvSpPr>
        <p:spPr>
          <a:xfrm>
            <a:off x="502920" y="219456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O que esse nome significa?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11"/>
          <p:cNvSpPr/>
          <p:nvPr/>
        </p:nvSpPr>
        <p:spPr>
          <a:xfrm>
            <a:off x="502920" y="2541960"/>
            <a:ext cx="11154960" cy="10234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2"/>
          <p:cNvSpPr/>
          <p:nvPr/>
        </p:nvSpPr>
        <p:spPr>
          <a:xfrm>
            <a:off x="502920" y="370332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Frase curta de apresentação: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13"/>
          <p:cNvSpPr/>
          <p:nvPr/>
        </p:nvSpPr>
        <p:spPr>
          <a:xfrm>
            <a:off x="502920" y="4050720"/>
            <a:ext cx="11154960" cy="10234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8. Funcionalidades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11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8"/>
          <p:cNvSpPr/>
          <p:nvPr/>
        </p:nvSpPr>
        <p:spPr>
          <a:xfrm>
            <a:off x="502920" y="123444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Funcionalidades são ações que o sistema irá realizar. Listem entre cinco e oito.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2" name="Table 9"/>
          <p:cNvGraphicFramePr/>
          <p:nvPr/>
        </p:nvGraphicFramePr>
        <p:xfrm>
          <a:off x="502920" y="1645920"/>
          <a:ext cx="11155320" cy="4753080"/>
        </p:xfrm>
        <a:graphic>
          <a:graphicData uri="http://schemas.openxmlformats.org/drawingml/2006/table">
            <a:tbl>
              <a:tblPr/>
              <a:tblGrid>
                <a:gridCol w="731520"/>
                <a:gridCol w="4480560"/>
                <a:gridCol w="5943600"/>
              </a:tblGrid>
              <a:tr h="5281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Nº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Funcionalidade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Como ela ajuda o usuário?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5281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81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81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81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81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81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81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81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9. Primeira versão do sistema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12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8"/>
          <p:cNvSpPr/>
          <p:nvPr/>
        </p:nvSpPr>
        <p:spPr>
          <a:xfrm>
            <a:off x="502920" y="123444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Escolham as três funcionalidades mais importantes para a primeira versão do sistema.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1" name="Table 9"/>
          <p:cNvGraphicFramePr/>
          <p:nvPr/>
        </p:nvGraphicFramePr>
        <p:xfrm>
          <a:off x="502920" y="1691640"/>
          <a:ext cx="11155320" cy="2377440"/>
        </p:xfrm>
        <a:graphic>
          <a:graphicData uri="http://schemas.openxmlformats.org/drawingml/2006/table">
            <a:tbl>
              <a:tblPr/>
              <a:tblGrid>
                <a:gridCol w="1188720"/>
                <a:gridCol w="4114800"/>
                <a:gridCol w="5852160"/>
              </a:tblGrid>
              <a:tr h="5943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Prioridade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Funcionalidade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Por que é indispensável?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5943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10. Caminho do usuário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13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8"/>
          <p:cNvSpPr/>
          <p:nvPr/>
        </p:nvSpPr>
        <p:spPr>
          <a:xfrm>
            <a:off x="502920" y="123444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Descrevam, em ordem, como o usuário utilizaria a principal função do sistema.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0" name="Table 9"/>
          <p:cNvGraphicFramePr/>
          <p:nvPr/>
        </p:nvGraphicFramePr>
        <p:xfrm>
          <a:off x="502920" y="1645920"/>
          <a:ext cx="11155320" cy="4752720"/>
        </p:xfrm>
        <a:graphic>
          <a:graphicData uri="http://schemas.openxmlformats.org/drawingml/2006/table">
            <a:tbl>
              <a:tblPr/>
              <a:tblGrid>
                <a:gridCol w="1188720"/>
                <a:gridCol w="9966960"/>
              </a:tblGrid>
              <a:tr h="6789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Etapa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 que acontece?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6789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9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9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9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9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9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11. Telas necessárias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14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8" name="Table 8"/>
          <p:cNvGraphicFramePr/>
          <p:nvPr/>
        </p:nvGraphicFramePr>
        <p:xfrm>
          <a:off x="502920" y="1371600"/>
          <a:ext cx="11155320" cy="4936680"/>
        </p:xfrm>
        <a:graphic>
          <a:graphicData uri="http://schemas.openxmlformats.org/drawingml/2006/table">
            <a:tbl>
              <a:tblPr/>
              <a:tblGrid>
                <a:gridCol w="3291840"/>
                <a:gridCol w="7863840"/>
              </a:tblGrid>
              <a:tr h="7052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Tela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Para que serve?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70524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524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524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524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524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524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12. Benefícios e dificuldades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15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8"/>
          <p:cNvSpPr/>
          <p:nvPr/>
        </p:nvSpPr>
        <p:spPr>
          <a:xfrm>
            <a:off x="502920" y="137160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Quais benefícios o sistema traria?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9"/>
          <p:cNvSpPr/>
          <p:nvPr/>
        </p:nvSpPr>
        <p:spPr>
          <a:xfrm>
            <a:off x="502920" y="1719000"/>
            <a:ext cx="11154960" cy="12520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0"/>
          <p:cNvSpPr/>
          <p:nvPr/>
        </p:nvSpPr>
        <p:spPr>
          <a:xfrm>
            <a:off x="502920" y="308160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Qual parte seria mais difícil de desenvolver?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11"/>
          <p:cNvSpPr/>
          <p:nvPr/>
        </p:nvSpPr>
        <p:spPr>
          <a:xfrm>
            <a:off x="502920" y="3429000"/>
            <a:ext cx="11154960" cy="12520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2"/>
          <p:cNvSpPr/>
          <p:nvPr/>
        </p:nvSpPr>
        <p:spPr>
          <a:xfrm>
            <a:off x="502920" y="479160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O que poderia ser acrescentado no futuro?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ectangle 13"/>
          <p:cNvSpPr/>
          <p:nvPr/>
        </p:nvSpPr>
        <p:spPr>
          <a:xfrm>
            <a:off x="502920" y="5139000"/>
            <a:ext cx="11154960" cy="12520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Rectangle 2"/>
          <p:cNvSpPr/>
          <p:nvPr/>
        </p:nvSpPr>
        <p:spPr>
          <a:xfrm>
            <a:off x="0" y="324612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3"/>
          <p:cNvSpPr/>
          <p:nvPr/>
        </p:nvSpPr>
        <p:spPr>
          <a:xfrm>
            <a:off x="822960" y="251460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4"/>
          <p:cNvSpPr/>
          <p:nvPr/>
        </p:nvSpPr>
        <p:spPr>
          <a:xfrm>
            <a:off x="822960" y="2880360"/>
            <a:ext cx="10514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Protótipos das Telas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5"/>
          <p:cNvSpPr/>
          <p:nvPr/>
        </p:nvSpPr>
        <p:spPr>
          <a:xfrm>
            <a:off x="822960" y="3520440"/>
            <a:ext cx="10514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Desenhem no papel e fotografem, ou façam no computador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16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Tela inicial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17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ectangle 8"/>
          <p:cNvSpPr/>
          <p:nvPr/>
        </p:nvSpPr>
        <p:spPr>
          <a:xfrm>
            <a:off x="502920" y="1280160"/>
            <a:ext cx="6765840" cy="5119920"/>
          </a:xfrm>
          <a:prstGeom prst="rect">
            <a:avLst/>
          </a:prstGeom>
          <a:solidFill>
            <a:srgbClr val="F4F6F8"/>
          </a:solidFill>
          <a:ln w="15875">
            <a:solidFill>
              <a:srgbClr val="B0B0B0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Cole ou insira aqui o protótipo da tela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(print, foto ou desenho)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9"/>
          <p:cNvSpPr/>
          <p:nvPr/>
        </p:nvSpPr>
        <p:spPr>
          <a:xfrm>
            <a:off x="7498080" y="1280160"/>
            <a:ext cx="4159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Explique o que o usuário poderá fazer nesta tela: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ectangle 10"/>
          <p:cNvSpPr/>
          <p:nvPr/>
        </p:nvSpPr>
        <p:spPr>
          <a:xfrm>
            <a:off x="7498080" y="1627560"/>
            <a:ext cx="4159800" cy="477252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Tela da principal funcionalidade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18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ectangle 8"/>
          <p:cNvSpPr/>
          <p:nvPr/>
        </p:nvSpPr>
        <p:spPr>
          <a:xfrm>
            <a:off x="502920" y="1280160"/>
            <a:ext cx="6765840" cy="5119920"/>
          </a:xfrm>
          <a:prstGeom prst="rect">
            <a:avLst/>
          </a:prstGeom>
          <a:solidFill>
            <a:srgbClr val="F4F6F8"/>
          </a:solidFill>
          <a:ln w="15875">
            <a:solidFill>
              <a:srgbClr val="B0B0B0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Cole ou insira aqui o protótipo da tela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(print, foto ou desenho)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9"/>
          <p:cNvSpPr/>
          <p:nvPr/>
        </p:nvSpPr>
        <p:spPr>
          <a:xfrm>
            <a:off x="7498080" y="1280160"/>
            <a:ext cx="4159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Explique o que o usuário poderá fazer nesta tela: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10"/>
          <p:cNvSpPr/>
          <p:nvPr/>
        </p:nvSpPr>
        <p:spPr>
          <a:xfrm>
            <a:off x="7498080" y="1627560"/>
            <a:ext cx="4159800" cy="477252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Outra tela importante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19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ectangle 8"/>
          <p:cNvSpPr/>
          <p:nvPr/>
        </p:nvSpPr>
        <p:spPr>
          <a:xfrm>
            <a:off x="502920" y="1280160"/>
            <a:ext cx="6765840" cy="5119920"/>
          </a:xfrm>
          <a:prstGeom prst="rect">
            <a:avLst/>
          </a:prstGeom>
          <a:solidFill>
            <a:srgbClr val="F4F6F8"/>
          </a:solidFill>
          <a:ln w="15875">
            <a:solidFill>
              <a:srgbClr val="B0B0B0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Cole ou insira aqui o protótipo da tela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(print, foto ou desenho)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9"/>
          <p:cNvSpPr/>
          <p:nvPr/>
        </p:nvSpPr>
        <p:spPr>
          <a:xfrm>
            <a:off x="7498080" y="1280160"/>
            <a:ext cx="4159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Explique o que o usuário poderá fazer nesta tela: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ectangle 10"/>
          <p:cNvSpPr/>
          <p:nvPr/>
        </p:nvSpPr>
        <p:spPr>
          <a:xfrm>
            <a:off x="7498080" y="1627560"/>
            <a:ext cx="4159800" cy="477252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1 · PROJETO DE ENGENHARIA DE SOFTWARE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Conclusão da equipe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20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8"/>
          <p:cNvSpPr/>
          <p:nvPr/>
        </p:nvSpPr>
        <p:spPr>
          <a:xfrm>
            <a:off x="502920" y="128016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1. O sistema ajudaria a resolver o problema? Explique.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9"/>
          <p:cNvSpPr/>
          <p:nvPr/>
        </p:nvSpPr>
        <p:spPr>
          <a:xfrm>
            <a:off x="502920" y="1627560"/>
            <a:ext cx="11154960" cy="12520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10"/>
          <p:cNvSpPr/>
          <p:nvPr/>
        </p:nvSpPr>
        <p:spPr>
          <a:xfrm>
            <a:off x="502920" y="297180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2. O que a equipe aprendeu ao planejar antes de programar?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ectangle 11"/>
          <p:cNvSpPr/>
          <p:nvPr/>
        </p:nvSpPr>
        <p:spPr>
          <a:xfrm>
            <a:off x="502920" y="3319200"/>
            <a:ext cx="11154960" cy="12520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12"/>
          <p:cNvSpPr/>
          <p:nvPr/>
        </p:nvSpPr>
        <p:spPr>
          <a:xfrm>
            <a:off x="502920" y="466344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3. Qual seria o próximo passo para transformar a ideia em um sistema real?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Rectangle 13"/>
          <p:cNvSpPr/>
          <p:nvPr/>
        </p:nvSpPr>
        <p:spPr>
          <a:xfrm>
            <a:off x="502920" y="5010840"/>
            <a:ext cx="11154960" cy="12520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Rectangle 2"/>
          <p:cNvSpPr/>
          <p:nvPr/>
        </p:nvSpPr>
        <p:spPr>
          <a:xfrm>
            <a:off x="0" y="324612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3"/>
          <p:cNvSpPr/>
          <p:nvPr/>
        </p:nvSpPr>
        <p:spPr>
          <a:xfrm>
            <a:off x="822960" y="251460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2 · DETALHAMENTO DE FUNCIONALIDADES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4"/>
          <p:cNvSpPr/>
          <p:nvPr/>
        </p:nvSpPr>
        <p:spPr>
          <a:xfrm>
            <a:off x="822960" y="2880360"/>
            <a:ext cx="10514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Detalhamento de Funcionalidades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5"/>
          <p:cNvSpPr/>
          <p:nvPr/>
        </p:nvSpPr>
        <p:spPr>
          <a:xfrm>
            <a:off x="822960" y="3520440"/>
            <a:ext cx="10514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Cada grupo deve detalhar ao menos 3 funcionalidades do sistema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23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2 · DETALHAMENTO DE FUNCIONALIDADES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Identificação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24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6" name="Table 8"/>
          <p:cNvGraphicFramePr/>
          <p:nvPr/>
        </p:nvGraphicFramePr>
        <p:xfrm>
          <a:off x="502920" y="1463040"/>
          <a:ext cx="11155320" cy="1280160"/>
        </p:xfrm>
        <a:graphic>
          <a:graphicData uri="http://schemas.openxmlformats.org/drawingml/2006/table">
            <a:tbl>
              <a:tblPr/>
              <a:tblGrid>
                <a:gridCol w="2926080"/>
                <a:gridCol w="1554480"/>
                <a:gridCol w="3840480"/>
                <a:gridCol w="1280160"/>
                <a:gridCol w="1554480"/>
              </a:tblGrid>
              <a:tr h="6400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Projeto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Grupo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Integrantes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Turma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Data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64008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7" name="TextBox 9"/>
          <p:cNvSpPr/>
          <p:nvPr/>
        </p:nvSpPr>
        <p:spPr>
          <a:xfrm>
            <a:off x="502920" y="310896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Ficha de Detalhamento de Funcionalidade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10"/>
          <p:cNvSpPr/>
          <p:nvPr/>
        </p:nvSpPr>
        <p:spPr>
          <a:xfrm>
            <a:off x="502920" y="3520440"/>
            <a:ext cx="1115496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3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As próximas três seções (uma por funcionalidade) seguem esta ficha: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lang="en-US" sz="13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1. Usuário — 2. História de usuário — 3. Dados necessários — 4. Regras de negócio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lang="en-US" sz="13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5. Fluxo principal — 6. Situações alternativas ou erros — 7. Critérios de aceitação — 8. Cenário de teste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</a:pP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lang="en-US" sz="13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Exemplo (biblioteca): Como bibliotecário, quero registrar o empréstimo de um exemplar para controlar quem está com cada livro e qual é a data prevista de devolução.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2 · DETALHAMENTO DE FUNCIONALIDADES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Funcionalidade 1 — Usuário e regras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25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8"/>
          <p:cNvSpPr/>
          <p:nvPr/>
        </p:nvSpPr>
        <p:spPr>
          <a:xfrm>
            <a:off x="502920" y="12344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1. Usuário — quem utiliza esta funcionalidade?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Rectangle 9"/>
          <p:cNvSpPr/>
          <p:nvPr/>
        </p:nvSpPr>
        <p:spPr>
          <a:xfrm>
            <a:off x="502920" y="1581840"/>
            <a:ext cx="5485680" cy="5662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10"/>
          <p:cNvSpPr/>
          <p:nvPr/>
        </p:nvSpPr>
        <p:spPr>
          <a:xfrm>
            <a:off x="6172200" y="12344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2. História de usuário: Como [usuário], quero [ação], para [objetivo].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Rectangle 11"/>
          <p:cNvSpPr/>
          <p:nvPr/>
        </p:nvSpPr>
        <p:spPr>
          <a:xfrm>
            <a:off x="6172200" y="1581840"/>
            <a:ext cx="5485680" cy="5662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12"/>
          <p:cNvSpPr/>
          <p:nvPr/>
        </p:nvSpPr>
        <p:spPr>
          <a:xfrm>
            <a:off x="502920" y="2268000"/>
            <a:ext cx="56170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3. Dados necessários — quais informações o sistema precisa receber, consultar ou registrar?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1" name="Table 13"/>
          <p:cNvGraphicFramePr/>
          <p:nvPr/>
        </p:nvGraphicFramePr>
        <p:xfrm>
          <a:off x="502920" y="2651760"/>
          <a:ext cx="5486040" cy="1737000"/>
        </p:xfrm>
        <a:graphic>
          <a:graphicData uri="http://schemas.openxmlformats.org/drawingml/2006/table">
            <a:tbl>
              <a:tblPr/>
              <a:tblGrid>
                <a:gridCol w="640080"/>
                <a:gridCol w="4846320"/>
              </a:tblGrid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Nº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Dado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2" name="TextBox 14"/>
          <p:cNvSpPr/>
          <p:nvPr/>
        </p:nvSpPr>
        <p:spPr>
          <a:xfrm>
            <a:off x="6172200" y="2331720"/>
            <a:ext cx="55278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4. Regras de negócio — o que é permitido ou proibido?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3" name="Table 15"/>
          <p:cNvGraphicFramePr/>
          <p:nvPr/>
        </p:nvGraphicFramePr>
        <p:xfrm>
          <a:off x="6172200" y="2651760"/>
          <a:ext cx="5486040" cy="1737000"/>
        </p:xfrm>
        <a:graphic>
          <a:graphicData uri="http://schemas.openxmlformats.org/drawingml/2006/table">
            <a:tbl>
              <a:tblPr/>
              <a:tblGrid>
                <a:gridCol w="640080"/>
                <a:gridCol w="4846320"/>
              </a:tblGrid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Nº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Regra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4" name="TextBox 16"/>
          <p:cNvSpPr/>
          <p:nvPr/>
        </p:nvSpPr>
        <p:spPr>
          <a:xfrm>
            <a:off x="502920" y="457200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5. Fluxo principal — descrevam o caminho normal, em ordem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5" name="Table 17"/>
          <p:cNvGraphicFramePr/>
          <p:nvPr/>
        </p:nvGraphicFramePr>
        <p:xfrm>
          <a:off x="502920" y="4892040"/>
          <a:ext cx="11155320" cy="2205000"/>
        </p:xfrm>
        <a:graphic>
          <a:graphicData uri="http://schemas.openxmlformats.org/drawingml/2006/table">
            <a:tbl>
              <a:tblPr/>
              <a:tblGrid>
                <a:gridCol w="822960"/>
                <a:gridCol w="10332720"/>
              </a:tblGrid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Passo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 que acontece?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2 · DETALHAMENTO DE FUNCIONALIDADES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Funcionalidade 1 — Erros, critérios e teste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26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8"/>
          <p:cNvSpPr/>
          <p:nvPr/>
        </p:nvSpPr>
        <p:spPr>
          <a:xfrm>
            <a:off x="502920" y="123444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6. O que pode dar errado? Como o sistema deve responder?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4" name="Table 9"/>
          <p:cNvGraphicFramePr/>
          <p:nvPr/>
        </p:nvGraphicFramePr>
        <p:xfrm>
          <a:off x="502920" y="1554480"/>
          <a:ext cx="5486040" cy="1918800"/>
        </p:xfrm>
        <a:graphic>
          <a:graphicData uri="http://schemas.openxmlformats.org/drawingml/2006/table">
            <a:tbl>
              <a:tblPr/>
              <a:tblGrid>
                <a:gridCol w="5486400"/>
              </a:tblGrid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Situação de erro / alternativa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10"/>
          <p:cNvSpPr/>
          <p:nvPr/>
        </p:nvSpPr>
        <p:spPr>
          <a:xfrm>
            <a:off x="6172200" y="123444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7. Critérios de aceitação — como verificar se está pronta?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6" name="Table 11"/>
          <p:cNvGraphicFramePr/>
          <p:nvPr/>
        </p:nvGraphicFramePr>
        <p:xfrm>
          <a:off x="6172200" y="1554480"/>
          <a:ext cx="5486040" cy="1918800"/>
        </p:xfrm>
        <a:graphic>
          <a:graphicData uri="http://schemas.openxmlformats.org/drawingml/2006/table">
            <a:tbl>
              <a:tblPr/>
              <a:tblGrid>
                <a:gridCol w="5486400"/>
              </a:tblGrid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Critério de aceitação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7" name="TextBox 12"/>
          <p:cNvSpPr/>
          <p:nvPr/>
        </p:nvSpPr>
        <p:spPr>
          <a:xfrm>
            <a:off x="502920" y="379476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8. Cenário de teste (Dado que / Quando / Então)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13"/>
          <p:cNvSpPr/>
          <p:nvPr/>
        </p:nvSpPr>
        <p:spPr>
          <a:xfrm>
            <a:off x="502920" y="411480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Dado que 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14"/>
          <p:cNvSpPr/>
          <p:nvPr/>
        </p:nvSpPr>
        <p:spPr>
          <a:xfrm>
            <a:off x="502920" y="4462200"/>
            <a:ext cx="11154960" cy="3376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15"/>
          <p:cNvSpPr/>
          <p:nvPr/>
        </p:nvSpPr>
        <p:spPr>
          <a:xfrm>
            <a:off x="502920" y="489204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Quando 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ectangle 16"/>
          <p:cNvSpPr/>
          <p:nvPr/>
        </p:nvSpPr>
        <p:spPr>
          <a:xfrm>
            <a:off x="502920" y="5239440"/>
            <a:ext cx="11154960" cy="3376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17"/>
          <p:cNvSpPr/>
          <p:nvPr/>
        </p:nvSpPr>
        <p:spPr>
          <a:xfrm>
            <a:off x="502920" y="566928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Então 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Rectangle 18"/>
          <p:cNvSpPr/>
          <p:nvPr/>
        </p:nvSpPr>
        <p:spPr>
          <a:xfrm>
            <a:off x="502920" y="6016680"/>
            <a:ext cx="11154960" cy="3376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5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6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2 · DETALHAMENTO DE FUNCIONALIDADES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Funcionalidade 2 — Usuário e regras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27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8"/>
          <p:cNvSpPr/>
          <p:nvPr/>
        </p:nvSpPr>
        <p:spPr>
          <a:xfrm>
            <a:off x="502920" y="12344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1. Usuário — quem utiliza esta funcionalidade?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Rectangle 9"/>
          <p:cNvSpPr/>
          <p:nvPr/>
        </p:nvSpPr>
        <p:spPr>
          <a:xfrm>
            <a:off x="502920" y="1581840"/>
            <a:ext cx="5485680" cy="5662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10"/>
          <p:cNvSpPr/>
          <p:nvPr/>
        </p:nvSpPr>
        <p:spPr>
          <a:xfrm>
            <a:off x="6172200" y="12344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2. História de usuário: Como [usuário], quero [ação], para [objetivo].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ectangle 11"/>
          <p:cNvSpPr/>
          <p:nvPr/>
        </p:nvSpPr>
        <p:spPr>
          <a:xfrm>
            <a:off x="6172200" y="1581840"/>
            <a:ext cx="5485680" cy="5662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12"/>
          <p:cNvSpPr/>
          <p:nvPr/>
        </p:nvSpPr>
        <p:spPr>
          <a:xfrm>
            <a:off x="502920" y="233172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3. Dados necessários — quais informações o sistema precisa receber, consultar ou registrar?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6" name="Table 13"/>
          <p:cNvGraphicFramePr/>
          <p:nvPr/>
        </p:nvGraphicFramePr>
        <p:xfrm>
          <a:off x="502920" y="2651760"/>
          <a:ext cx="5486040" cy="1737000"/>
        </p:xfrm>
        <a:graphic>
          <a:graphicData uri="http://schemas.openxmlformats.org/drawingml/2006/table">
            <a:tbl>
              <a:tblPr/>
              <a:tblGrid>
                <a:gridCol w="640080"/>
                <a:gridCol w="4846320"/>
              </a:tblGrid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Nº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Dado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7" name="TextBox 14"/>
          <p:cNvSpPr/>
          <p:nvPr/>
        </p:nvSpPr>
        <p:spPr>
          <a:xfrm>
            <a:off x="6172200" y="233172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4. Regras de negócio — o que é permitido ou proibido?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8" name="Table 15"/>
          <p:cNvGraphicFramePr/>
          <p:nvPr/>
        </p:nvGraphicFramePr>
        <p:xfrm>
          <a:off x="6172200" y="2651760"/>
          <a:ext cx="5486040" cy="1737000"/>
        </p:xfrm>
        <a:graphic>
          <a:graphicData uri="http://schemas.openxmlformats.org/drawingml/2006/table">
            <a:tbl>
              <a:tblPr/>
              <a:tblGrid>
                <a:gridCol w="640080"/>
                <a:gridCol w="4846320"/>
              </a:tblGrid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Nº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Regra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9" name="TextBox 16"/>
          <p:cNvSpPr/>
          <p:nvPr/>
        </p:nvSpPr>
        <p:spPr>
          <a:xfrm>
            <a:off x="502920" y="457200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5. Fluxo principal — descrevam o caminho normal, em ordem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70" name="Table 17"/>
          <p:cNvGraphicFramePr/>
          <p:nvPr/>
        </p:nvGraphicFramePr>
        <p:xfrm>
          <a:off x="502920" y="4892040"/>
          <a:ext cx="11155320" cy="2205000"/>
        </p:xfrm>
        <a:graphic>
          <a:graphicData uri="http://schemas.openxmlformats.org/drawingml/2006/table">
            <a:tbl>
              <a:tblPr/>
              <a:tblGrid>
                <a:gridCol w="822960"/>
                <a:gridCol w="10332720"/>
              </a:tblGrid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Passo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 que acontece?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2 · DETALHAMENTO DE FUNCIONALIDADES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Funcionalidade 2 — Erros, critérios e teste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28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8"/>
          <p:cNvSpPr/>
          <p:nvPr/>
        </p:nvSpPr>
        <p:spPr>
          <a:xfrm>
            <a:off x="502920" y="123444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6. O que pode dar errado? Como o sistema deve responder?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79" name="Table 9"/>
          <p:cNvGraphicFramePr/>
          <p:nvPr/>
        </p:nvGraphicFramePr>
        <p:xfrm>
          <a:off x="502920" y="1554480"/>
          <a:ext cx="5486040" cy="1918800"/>
        </p:xfrm>
        <a:graphic>
          <a:graphicData uri="http://schemas.openxmlformats.org/drawingml/2006/table">
            <a:tbl>
              <a:tblPr/>
              <a:tblGrid>
                <a:gridCol w="5486400"/>
              </a:tblGrid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Situação de erro / alternativa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0" name="TextBox 10"/>
          <p:cNvSpPr/>
          <p:nvPr/>
        </p:nvSpPr>
        <p:spPr>
          <a:xfrm>
            <a:off x="6172200" y="123444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7. Critérios de aceitação — como verificar se está pronta?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1" name="Table 11"/>
          <p:cNvGraphicFramePr/>
          <p:nvPr/>
        </p:nvGraphicFramePr>
        <p:xfrm>
          <a:off x="6172200" y="1554480"/>
          <a:ext cx="5486040" cy="1918800"/>
        </p:xfrm>
        <a:graphic>
          <a:graphicData uri="http://schemas.openxmlformats.org/drawingml/2006/table">
            <a:tbl>
              <a:tblPr/>
              <a:tblGrid>
                <a:gridCol w="5486400"/>
              </a:tblGrid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Critério de aceitação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2" name="TextBox 12"/>
          <p:cNvSpPr/>
          <p:nvPr/>
        </p:nvSpPr>
        <p:spPr>
          <a:xfrm>
            <a:off x="502920" y="379476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8. Cenário de teste (Dado que / Quando / Então)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13"/>
          <p:cNvSpPr/>
          <p:nvPr/>
        </p:nvSpPr>
        <p:spPr>
          <a:xfrm>
            <a:off x="502920" y="411480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Dado que 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Rectangle 14"/>
          <p:cNvSpPr/>
          <p:nvPr/>
        </p:nvSpPr>
        <p:spPr>
          <a:xfrm>
            <a:off x="502920" y="4462200"/>
            <a:ext cx="11154960" cy="3376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15"/>
          <p:cNvSpPr/>
          <p:nvPr/>
        </p:nvSpPr>
        <p:spPr>
          <a:xfrm>
            <a:off x="502920" y="489204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Quando 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Rectangle 16"/>
          <p:cNvSpPr/>
          <p:nvPr/>
        </p:nvSpPr>
        <p:spPr>
          <a:xfrm>
            <a:off x="502920" y="5239440"/>
            <a:ext cx="11154960" cy="3376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17"/>
          <p:cNvSpPr/>
          <p:nvPr/>
        </p:nvSpPr>
        <p:spPr>
          <a:xfrm>
            <a:off x="502920" y="566928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Então 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18"/>
          <p:cNvSpPr/>
          <p:nvPr/>
        </p:nvSpPr>
        <p:spPr>
          <a:xfrm>
            <a:off x="502920" y="6016680"/>
            <a:ext cx="11154960" cy="3376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1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2 · DETALHAMENTO DE FUNCIONALIDADES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Funcionalidade 3 — Usuário e regras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29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8"/>
          <p:cNvSpPr/>
          <p:nvPr/>
        </p:nvSpPr>
        <p:spPr>
          <a:xfrm>
            <a:off x="502920" y="12344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1. Usuário — quem utiliza esta funcionalidade?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Rectangle 9"/>
          <p:cNvSpPr/>
          <p:nvPr/>
        </p:nvSpPr>
        <p:spPr>
          <a:xfrm>
            <a:off x="502920" y="1581840"/>
            <a:ext cx="5485680" cy="5662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10"/>
          <p:cNvSpPr/>
          <p:nvPr/>
        </p:nvSpPr>
        <p:spPr>
          <a:xfrm>
            <a:off x="6172200" y="12344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2. História de usuário: Como [usuário], quero [ação], para [objetivo].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ectangle 11"/>
          <p:cNvSpPr/>
          <p:nvPr/>
        </p:nvSpPr>
        <p:spPr>
          <a:xfrm>
            <a:off x="6172200" y="1581840"/>
            <a:ext cx="5485680" cy="5662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12"/>
          <p:cNvSpPr/>
          <p:nvPr/>
        </p:nvSpPr>
        <p:spPr>
          <a:xfrm>
            <a:off x="502920" y="233172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3. Dados necessários — quais informações o sistema precisa receber, consultar ou registrar?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1" name="Table 13"/>
          <p:cNvGraphicFramePr/>
          <p:nvPr/>
        </p:nvGraphicFramePr>
        <p:xfrm>
          <a:off x="502920" y="2651760"/>
          <a:ext cx="5486040" cy="1737000"/>
        </p:xfrm>
        <a:graphic>
          <a:graphicData uri="http://schemas.openxmlformats.org/drawingml/2006/table">
            <a:tbl>
              <a:tblPr/>
              <a:tblGrid>
                <a:gridCol w="640080"/>
                <a:gridCol w="4846320"/>
              </a:tblGrid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Nº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Dado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2" name="TextBox 14"/>
          <p:cNvSpPr/>
          <p:nvPr/>
        </p:nvSpPr>
        <p:spPr>
          <a:xfrm>
            <a:off x="6172200" y="233172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4. Regras de negócio — o que é permitido ou proibido?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3" name="Table 15"/>
          <p:cNvGraphicFramePr/>
          <p:nvPr/>
        </p:nvGraphicFramePr>
        <p:xfrm>
          <a:off x="6172200" y="2651760"/>
          <a:ext cx="5486040" cy="1737000"/>
        </p:xfrm>
        <a:graphic>
          <a:graphicData uri="http://schemas.openxmlformats.org/drawingml/2006/table">
            <a:tbl>
              <a:tblPr/>
              <a:tblGrid>
                <a:gridCol w="640080"/>
                <a:gridCol w="4846320"/>
              </a:tblGrid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Nº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Regra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4" name="TextBox 16"/>
          <p:cNvSpPr/>
          <p:nvPr/>
        </p:nvSpPr>
        <p:spPr>
          <a:xfrm>
            <a:off x="502920" y="457200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5. Fluxo principal — descrevam o caminho normal, em ordem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5" name="Table 17"/>
          <p:cNvGraphicFramePr/>
          <p:nvPr/>
        </p:nvGraphicFramePr>
        <p:xfrm>
          <a:off x="502920" y="4892040"/>
          <a:ext cx="11155320" cy="2205000"/>
        </p:xfrm>
        <a:graphic>
          <a:graphicData uri="http://schemas.openxmlformats.org/drawingml/2006/table">
            <a:tbl>
              <a:tblPr/>
              <a:tblGrid>
                <a:gridCol w="822960"/>
                <a:gridCol w="10332720"/>
              </a:tblGrid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Passo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 que acontece?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8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9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2 · DETALHAMENTO DE FUNCIONALIDADES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Funcionalidade 3 — Erros, critérios e teste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30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8"/>
          <p:cNvSpPr/>
          <p:nvPr/>
        </p:nvSpPr>
        <p:spPr>
          <a:xfrm>
            <a:off x="502920" y="123444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6. O que pode dar errado? Como o sistema deve responder?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14" name="Table 9"/>
          <p:cNvGraphicFramePr/>
          <p:nvPr/>
        </p:nvGraphicFramePr>
        <p:xfrm>
          <a:off x="502920" y="1554480"/>
          <a:ext cx="5486040" cy="1918800"/>
        </p:xfrm>
        <a:graphic>
          <a:graphicData uri="http://schemas.openxmlformats.org/drawingml/2006/table">
            <a:tbl>
              <a:tblPr/>
              <a:tblGrid>
                <a:gridCol w="5486400"/>
              </a:tblGrid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Situação de erro / alternativa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5" name="TextBox 10"/>
          <p:cNvSpPr/>
          <p:nvPr/>
        </p:nvSpPr>
        <p:spPr>
          <a:xfrm>
            <a:off x="6172200" y="123444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7. Critérios de aceitação — como verificar se está pronta?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16" name="Table 11"/>
          <p:cNvGraphicFramePr/>
          <p:nvPr/>
        </p:nvGraphicFramePr>
        <p:xfrm>
          <a:off x="6172200" y="1554480"/>
          <a:ext cx="5486040" cy="1918800"/>
        </p:xfrm>
        <a:graphic>
          <a:graphicData uri="http://schemas.openxmlformats.org/drawingml/2006/table">
            <a:tbl>
              <a:tblPr/>
              <a:tblGrid>
                <a:gridCol w="5486400"/>
              </a:tblGrid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Critério de aceitação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7" name="TextBox 12"/>
          <p:cNvSpPr/>
          <p:nvPr/>
        </p:nvSpPr>
        <p:spPr>
          <a:xfrm>
            <a:off x="502920" y="379476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8. Cenário de teste (Dado que / Quando / Então)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Box 13"/>
          <p:cNvSpPr/>
          <p:nvPr/>
        </p:nvSpPr>
        <p:spPr>
          <a:xfrm>
            <a:off x="502920" y="411480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Dado que 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Rectangle 14"/>
          <p:cNvSpPr/>
          <p:nvPr/>
        </p:nvSpPr>
        <p:spPr>
          <a:xfrm>
            <a:off x="502920" y="4462200"/>
            <a:ext cx="11154960" cy="3376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15"/>
          <p:cNvSpPr/>
          <p:nvPr/>
        </p:nvSpPr>
        <p:spPr>
          <a:xfrm>
            <a:off x="502920" y="489204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Quando 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Rectangle 16"/>
          <p:cNvSpPr/>
          <p:nvPr/>
        </p:nvSpPr>
        <p:spPr>
          <a:xfrm>
            <a:off x="502920" y="5239440"/>
            <a:ext cx="11154960" cy="3376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17"/>
          <p:cNvSpPr/>
          <p:nvPr/>
        </p:nvSpPr>
        <p:spPr>
          <a:xfrm>
            <a:off x="502920" y="566928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Então 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Rectangle 18"/>
          <p:cNvSpPr/>
          <p:nvPr/>
        </p:nvSpPr>
        <p:spPr>
          <a:xfrm>
            <a:off x="502920" y="6016680"/>
            <a:ext cx="11154960" cy="3376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" name="Rectangle 2"/>
          <p:cNvSpPr/>
          <p:nvPr/>
        </p:nvSpPr>
        <p:spPr>
          <a:xfrm>
            <a:off x="0" y="324612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6" name="TextBox 3"/>
          <p:cNvSpPr/>
          <p:nvPr/>
        </p:nvSpPr>
        <p:spPr>
          <a:xfrm>
            <a:off x="822960" y="251460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3 · DIAGRAMAS DE CASOS DE USO E DE FLUXO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4"/>
          <p:cNvSpPr/>
          <p:nvPr/>
        </p:nvSpPr>
        <p:spPr>
          <a:xfrm>
            <a:off x="822960" y="2880360"/>
            <a:ext cx="10514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Diagramas de Casos de Uso e de Fluxo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5"/>
          <p:cNvSpPr/>
          <p:nvPr/>
        </p:nvSpPr>
        <p:spPr>
          <a:xfrm>
            <a:off x="822960" y="3520440"/>
            <a:ext cx="10514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Mínimo de 2 diagramas de cada tipo, referentes às funcionalidades já detalhadas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31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3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4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3 · DIAGRAMAS DE CASOS DE USO E DE FLUXO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 que vamos construir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32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8"/>
          <p:cNvSpPr/>
          <p:nvPr/>
        </p:nvSpPr>
        <p:spPr>
          <a:xfrm>
            <a:off x="502920" y="128016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Diagrama de casos de uso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9"/>
          <p:cNvSpPr/>
          <p:nvPr/>
        </p:nvSpPr>
        <p:spPr>
          <a:xfrm>
            <a:off x="502920" y="1600200"/>
            <a:ext cx="111549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25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Responde a: quem usa o sistema? e o que essa pessoa pode fazer?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25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Elementos: ator, caso de uso (verbo + complemento) e a ligação entre eles.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10"/>
          <p:cNvSpPr/>
          <p:nvPr/>
        </p:nvSpPr>
        <p:spPr>
          <a:xfrm>
            <a:off x="502920" y="251460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Diagrama de fluxo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11"/>
          <p:cNvSpPr/>
          <p:nvPr/>
        </p:nvSpPr>
        <p:spPr>
          <a:xfrm>
            <a:off x="502920" y="2834640"/>
            <a:ext cx="111549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25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Responde a: o que acontece do início ao fim?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25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Símbolos: oval/retângulo arredondado (início/fim), retângulo (ação), losango (decisão), seta (sequência).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12"/>
          <p:cNvSpPr/>
          <p:nvPr/>
        </p:nvSpPr>
        <p:spPr>
          <a:xfrm>
            <a:off x="502920" y="393192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Ferramentas sugeridas: diagrams.net (draw.io), Google Desenhos, PowerPoint, Canva — ou desenho à mão fotografado.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4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5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6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3 · DIAGRAMAS DE CASOS DE USO E DE FLUXO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Planejamento rápido — Funcionalidade 1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33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50" name="Table 8"/>
          <p:cNvGraphicFramePr/>
          <p:nvPr/>
        </p:nvGraphicFramePr>
        <p:xfrm>
          <a:off x="502920" y="1371600"/>
          <a:ext cx="11155320" cy="4844880"/>
        </p:xfrm>
        <a:graphic>
          <a:graphicData uri="http://schemas.openxmlformats.org/drawingml/2006/table">
            <a:tbl>
              <a:tblPr/>
              <a:tblGrid>
                <a:gridCol w="3108960"/>
                <a:gridCol w="8046720"/>
              </a:tblGrid>
              <a:tr h="8074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Item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Resposta da equipe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8074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Nome da funcionalidade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4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Ator(es)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4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Passos principais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4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Decisões importantes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4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Possíveis caminhos de erro/alternativos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2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3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4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3 · DIAGRAMAS DE CASOS DE USO E DE FLUXO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Diagrama de Casos de Uso 1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34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Rectangle 8"/>
          <p:cNvSpPr/>
          <p:nvPr/>
        </p:nvSpPr>
        <p:spPr>
          <a:xfrm>
            <a:off x="502920" y="1280160"/>
            <a:ext cx="11154960" cy="5119920"/>
          </a:xfrm>
          <a:prstGeom prst="rect">
            <a:avLst/>
          </a:prstGeom>
          <a:solidFill>
            <a:srgbClr val="F4F6F8"/>
          </a:solidFill>
          <a:ln w="15875">
            <a:solidFill>
              <a:srgbClr val="B0B0B0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Cole ou insira aqui o diagrama de casos de uso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(ator, caso de uso e ligações)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0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1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3 · DIAGRAMAS DE CASOS DE USO E DE FLUXO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Diagrama de Fluxo 1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35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Rectangle 8"/>
          <p:cNvSpPr/>
          <p:nvPr/>
        </p:nvSpPr>
        <p:spPr>
          <a:xfrm>
            <a:off x="502920" y="1280160"/>
            <a:ext cx="11154960" cy="5119920"/>
          </a:xfrm>
          <a:prstGeom prst="rect">
            <a:avLst/>
          </a:prstGeom>
          <a:solidFill>
            <a:srgbClr val="F4F6F8"/>
          </a:solidFill>
          <a:ln w="15875">
            <a:solidFill>
              <a:srgbClr val="B0B0B0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Cole ou insira aqui o diagrama de fluxo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(início, ações, decisões e fim)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9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0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3 · DIAGRAMAS DE CASOS DE USO E DE FLUXO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Planejamento rápido — Funcionalidade 2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36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74" name="Table 8"/>
          <p:cNvGraphicFramePr/>
          <p:nvPr/>
        </p:nvGraphicFramePr>
        <p:xfrm>
          <a:off x="502920" y="1371600"/>
          <a:ext cx="11155320" cy="4844880"/>
        </p:xfrm>
        <a:graphic>
          <a:graphicData uri="http://schemas.openxmlformats.org/drawingml/2006/table">
            <a:tbl>
              <a:tblPr/>
              <a:tblGrid>
                <a:gridCol w="3108960"/>
                <a:gridCol w="8046720"/>
              </a:tblGrid>
              <a:tr h="8074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Item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Resposta da equipe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8074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Nome da funcionalidade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4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Ator(es)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4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Passos principais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4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Decisões importantes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48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Possíveis caminhos de erro/alternativos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6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8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3 · DIAGRAMAS DE CASOS DE USO E DE FLUXO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Diagrama de Casos de Uso 2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37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Rectangle 8"/>
          <p:cNvSpPr/>
          <p:nvPr/>
        </p:nvSpPr>
        <p:spPr>
          <a:xfrm>
            <a:off x="502920" y="1280160"/>
            <a:ext cx="11154960" cy="5119920"/>
          </a:xfrm>
          <a:prstGeom prst="rect">
            <a:avLst/>
          </a:prstGeom>
          <a:solidFill>
            <a:srgbClr val="F4F6F8"/>
          </a:solidFill>
          <a:ln w="15875">
            <a:solidFill>
              <a:srgbClr val="B0B0B0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Cole ou insira aqui o diagrama de casos de uso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(ator, caso de uso e ligações)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4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5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3 · DIAGRAMAS DE CASOS DE USO E DE FLUXO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Diagrama de Fluxo 2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38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Rectangle 8"/>
          <p:cNvSpPr/>
          <p:nvPr/>
        </p:nvSpPr>
        <p:spPr>
          <a:xfrm>
            <a:off x="502920" y="1280160"/>
            <a:ext cx="11154960" cy="5119920"/>
          </a:xfrm>
          <a:prstGeom prst="rect">
            <a:avLst/>
          </a:prstGeom>
          <a:solidFill>
            <a:srgbClr val="F4F6F8"/>
          </a:solidFill>
          <a:ln w="15875">
            <a:solidFill>
              <a:srgbClr val="B0B0B0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Cole ou insira aqui o diagrama de fluxo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(início, ações, decisões e fim)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2" name="Rectangle 2"/>
          <p:cNvSpPr/>
          <p:nvPr/>
        </p:nvSpPr>
        <p:spPr>
          <a:xfrm>
            <a:off x="0" y="324612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3" name="TextBox 3"/>
          <p:cNvSpPr/>
          <p:nvPr/>
        </p:nvSpPr>
        <p:spPr>
          <a:xfrm>
            <a:off x="822960" y="251460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4 · MODELAGEM INICIAL DO BANCO DE DADOS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Box 4"/>
          <p:cNvSpPr/>
          <p:nvPr/>
        </p:nvSpPr>
        <p:spPr>
          <a:xfrm>
            <a:off x="822960" y="2880360"/>
            <a:ext cx="10514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Modelagem Inicial do Banco de Dados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Box 5"/>
          <p:cNvSpPr/>
          <p:nvPr/>
        </p:nvSpPr>
        <p:spPr>
          <a:xfrm>
            <a:off x="822960" y="3520440"/>
            <a:ext cx="10514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Transformar as funcionalidades em tabelas, campos e relacionamentos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40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9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0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1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4 · MODELAGEM INICIAL DO BANCO DE DADOS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Box 5"/>
          <p:cNvSpPr/>
          <p:nvPr/>
        </p:nvSpPr>
        <p:spPr>
          <a:xfrm>
            <a:off x="502920" y="384120"/>
            <a:ext cx="111549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Objetivo e funcionalidade selecionada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41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Box 8"/>
          <p:cNvSpPr/>
          <p:nvPr/>
        </p:nvSpPr>
        <p:spPr>
          <a:xfrm>
            <a:off x="502920" y="1234440"/>
            <a:ext cx="1115496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Selecionem uma funcionalidades que dependem do armazenamento ou consulta de informações.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7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8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9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4 · MODELAGEM INICIAL DO BANCO DE DADOS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Dados da funcionalidade 1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42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Box 8"/>
          <p:cNvSpPr/>
          <p:nvPr/>
        </p:nvSpPr>
        <p:spPr>
          <a:xfrm>
            <a:off x="502920" y="123444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Nome da funcionalidade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Rectangle 9"/>
          <p:cNvSpPr/>
          <p:nvPr/>
        </p:nvSpPr>
        <p:spPr>
          <a:xfrm>
            <a:off x="502920" y="1581840"/>
            <a:ext cx="11154960" cy="33768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15" name="Table 10"/>
          <p:cNvGraphicFramePr/>
          <p:nvPr/>
        </p:nvGraphicFramePr>
        <p:xfrm>
          <a:off x="502920" y="2103120"/>
          <a:ext cx="11155320" cy="4296240"/>
        </p:xfrm>
        <a:graphic>
          <a:graphicData uri="http://schemas.openxmlformats.org/drawingml/2006/table">
            <a:tbl>
              <a:tblPr/>
              <a:tblGrid>
                <a:gridCol w="3291840"/>
                <a:gridCol w="7863840"/>
              </a:tblGrid>
              <a:tr h="7160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Categoria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Resposta da equipe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7160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Dados fornecidos pelo usuário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60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Dados consultados pelo sistema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60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Novos dados ou registros criados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60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Dados já existentes que são alterados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60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Informações que precisam permanecer salvas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7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8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9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4 · MODELAGEM INICIAL DO BANCO DE DADOS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Agrupamento por assunto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46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Box 8"/>
          <p:cNvSpPr/>
          <p:nvPr/>
        </p:nvSpPr>
        <p:spPr>
          <a:xfrm>
            <a:off x="502920" y="118872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Dados que descrevem o mesmo tipo de elemento ficam juntos. Cada grupo pode virar uma tabela. Ex.: leitores, livros, exemplares, empréstimos.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24" name="Table 9"/>
          <p:cNvGraphicFramePr/>
          <p:nvPr/>
        </p:nvGraphicFramePr>
        <p:xfrm>
          <a:off x="502920" y="1691640"/>
          <a:ext cx="11155320" cy="4663440"/>
        </p:xfrm>
        <a:graphic>
          <a:graphicData uri="http://schemas.openxmlformats.org/drawingml/2006/table">
            <a:tbl>
              <a:tblPr/>
              <a:tblGrid>
                <a:gridCol w="1005840"/>
                <a:gridCol w="2834640"/>
                <a:gridCol w="7315200"/>
              </a:tblGrid>
              <a:tr h="7772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Grupo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Nome do assunto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Informações pertencentes ao grupo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7772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6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7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8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4 · MODELAGEM INICIAL DO BANCO DE DADOS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Tabela 1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47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Box 8"/>
          <p:cNvSpPr/>
          <p:nvPr/>
        </p:nvSpPr>
        <p:spPr>
          <a:xfrm>
            <a:off x="502920" y="123444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Nome da tabela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Rectangle 9"/>
          <p:cNvSpPr/>
          <p:nvPr/>
        </p:nvSpPr>
        <p:spPr>
          <a:xfrm>
            <a:off x="502920" y="1581840"/>
            <a:ext cx="11154960" cy="29196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34" name="Table 10"/>
          <p:cNvGraphicFramePr/>
          <p:nvPr/>
        </p:nvGraphicFramePr>
        <p:xfrm>
          <a:off x="502920" y="2011680"/>
          <a:ext cx="11155320" cy="438912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2468880"/>
                <a:gridCol w="2194560"/>
              </a:tblGrid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Campo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 que armazena?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Exemplo de valor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Tipo de dado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6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7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8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4 · MODELAGEM INICIAL DO BANCO DE DADOS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Tabela 2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48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Box 8"/>
          <p:cNvSpPr/>
          <p:nvPr/>
        </p:nvSpPr>
        <p:spPr>
          <a:xfrm>
            <a:off x="502920" y="123444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Nome da tabela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Rectangle 9"/>
          <p:cNvSpPr/>
          <p:nvPr/>
        </p:nvSpPr>
        <p:spPr>
          <a:xfrm>
            <a:off x="502920" y="1581840"/>
            <a:ext cx="11154960" cy="29196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44" name="Table 10"/>
          <p:cNvGraphicFramePr/>
          <p:nvPr/>
        </p:nvGraphicFramePr>
        <p:xfrm>
          <a:off x="502920" y="2011680"/>
          <a:ext cx="11155320" cy="438912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2468880"/>
                <a:gridCol w="2194560"/>
              </a:tblGrid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Campo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 que armazena?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Exemplo de valor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Tipo de dado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6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7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8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4 · MODELAGEM INICIAL DO BANCO DE DADOS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Tabela 3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49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Box 8"/>
          <p:cNvSpPr/>
          <p:nvPr/>
        </p:nvSpPr>
        <p:spPr>
          <a:xfrm>
            <a:off x="502920" y="123444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Nome da tabela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Rectangle 9"/>
          <p:cNvSpPr/>
          <p:nvPr/>
        </p:nvSpPr>
        <p:spPr>
          <a:xfrm>
            <a:off x="502920" y="1581840"/>
            <a:ext cx="11154960" cy="29196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54" name="Table 10"/>
          <p:cNvGraphicFramePr/>
          <p:nvPr/>
        </p:nvGraphicFramePr>
        <p:xfrm>
          <a:off x="502920" y="2011680"/>
          <a:ext cx="11155320" cy="438912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2468880"/>
                <a:gridCol w="2194560"/>
              </a:tblGrid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Campo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 que armazena?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Exemplo de valor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Tipo de dado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6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7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8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4 · MODELAGEM INICIAL DO BANCO DE DADOS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Tabela 4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50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Box 8"/>
          <p:cNvSpPr/>
          <p:nvPr/>
        </p:nvSpPr>
        <p:spPr>
          <a:xfrm>
            <a:off x="502920" y="123444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Nome da tabela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Rectangle 9"/>
          <p:cNvSpPr/>
          <p:nvPr/>
        </p:nvSpPr>
        <p:spPr>
          <a:xfrm>
            <a:off x="502920" y="1581840"/>
            <a:ext cx="11154960" cy="29196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64" name="Table 10"/>
          <p:cNvGraphicFramePr/>
          <p:nvPr/>
        </p:nvGraphicFramePr>
        <p:xfrm>
          <a:off x="502920" y="2011680"/>
          <a:ext cx="11155320" cy="438912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2468880"/>
                <a:gridCol w="2194560"/>
              </a:tblGrid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Campo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 que armazena?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Exemplo de valor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Tipo de dado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6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7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8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4 · MODELAGEM INICIAL DO BANCO DE DADOS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Regras básicas dos campos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51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Box 8"/>
          <p:cNvSpPr/>
          <p:nvPr/>
        </p:nvSpPr>
        <p:spPr>
          <a:xfrm>
            <a:off x="502920" y="118872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Indiquem quais campos identificam os registros, quais são obrigatórios e quais não podem se repetir.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73" name="Table 9"/>
          <p:cNvGraphicFramePr/>
          <p:nvPr/>
        </p:nvGraphicFramePr>
        <p:xfrm>
          <a:off x="502920" y="1600200"/>
          <a:ext cx="11155320" cy="475308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2011680"/>
                <a:gridCol w="2011680"/>
                <a:gridCol w="2103120"/>
              </a:tblGrid>
              <a:tr h="52812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Tabela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Campo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É identificador?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É obrigatório?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Não pode repetir?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5281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81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81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81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81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81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81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8120"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5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6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7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4 · MODELAGEM INICIAL DO BANCO DE DADOS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Relacione as tabelas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52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Box 8"/>
          <p:cNvSpPr/>
          <p:nvPr/>
        </p:nvSpPr>
        <p:spPr>
          <a:xfrm>
            <a:off x="502920" y="118872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Escrevam os relacionamentos em frases e depois representem com 1 e N.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82" name="Table 9"/>
          <p:cNvGraphicFramePr/>
          <p:nvPr/>
        </p:nvGraphicFramePr>
        <p:xfrm>
          <a:off x="502920" y="1600200"/>
          <a:ext cx="11155320" cy="4753800"/>
        </p:xfrm>
        <a:graphic>
          <a:graphicData uri="http://schemas.openxmlformats.org/drawingml/2006/table">
            <a:tbl>
              <a:tblPr/>
              <a:tblGrid>
                <a:gridCol w="1554480"/>
                <a:gridCol w="6400800"/>
                <a:gridCol w="3200400"/>
              </a:tblGrid>
              <a:tr h="9507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Relacionamento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Frase do relacionamento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Representação (1 -------- N)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9507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07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07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076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4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5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6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4 · MODELAGEM INICIAL DO BANCO DE DADOS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Registros de exemplo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53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Box 8"/>
          <p:cNvSpPr/>
          <p:nvPr/>
        </p:nvSpPr>
        <p:spPr>
          <a:xfrm>
            <a:off x="502920" y="118872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Escolham três tabelas principais e criem ao menos três registros fictícios em cada uma.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Box 9"/>
          <p:cNvSpPr/>
          <p:nvPr/>
        </p:nvSpPr>
        <p:spPr>
          <a:xfrm>
            <a:off x="502920" y="1600200"/>
            <a:ext cx="2376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Nome da tabela 1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Rectangle 10"/>
          <p:cNvSpPr/>
          <p:nvPr/>
        </p:nvSpPr>
        <p:spPr>
          <a:xfrm>
            <a:off x="502920" y="1947600"/>
            <a:ext cx="2376720" cy="106920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93" name="Table 11"/>
          <p:cNvGraphicFramePr/>
          <p:nvPr/>
        </p:nvGraphicFramePr>
        <p:xfrm>
          <a:off x="3017520" y="1600200"/>
          <a:ext cx="8640000" cy="1416960"/>
        </p:xfrm>
        <a:graphic>
          <a:graphicData uri="http://schemas.openxmlformats.org/drawingml/2006/table">
            <a:tbl>
              <a:tblPr/>
              <a:tblGrid>
                <a:gridCol w="1097280"/>
                <a:gridCol w="1883520"/>
                <a:gridCol w="1883520"/>
                <a:gridCol w="1883520"/>
                <a:gridCol w="1892520"/>
              </a:tblGrid>
              <a:tr h="3542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Registro</a:t>
                      </a:r>
                      <a:endParaRPr lang="pt-B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Campo 1</a:t>
                      </a:r>
                      <a:endParaRPr lang="pt-B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Campo 2</a:t>
                      </a:r>
                      <a:endParaRPr lang="pt-B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Campo 3</a:t>
                      </a:r>
                      <a:endParaRPr lang="pt-B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Campo 4</a:t>
                      </a:r>
                      <a:endParaRPr lang="pt-B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542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pt-B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42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pt-B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42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pt-B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94" name="TextBox 12"/>
          <p:cNvSpPr/>
          <p:nvPr/>
        </p:nvSpPr>
        <p:spPr>
          <a:xfrm>
            <a:off x="502920" y="3246120"/>
            <a:ext cx="2376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Nome da tabela 2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Rectangle 13"/>
          <p:cNvSpPr/>
          <p:nvPr/>
        </p:nvSpPr>
        <p:spPr>
          <a:xfrm>
            <a:off x="502920" y="3593520"/>
            <a:ext cx="2376720" cy="106920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96" name="Table 14"/>
          <p:cNvGraphicFramePr/>
          <p:nvPr/>
        </p:nvGraphicFramePr>
        <p:xfrm>
          <a:off x="3017520" y="3246120"/>
          <a:ext cx="8640000" cy="1416960"/>
        </p:xfrm>
        <a:graphic>
          <a:graphicData uri="http://schemas.openxmlformats.org/drawingml/2006/table">
            <a:tbl>
              <a:tblPr/>
              <a:tblGrid>
                <a:gridCol w="1097280"/>
                <a:gridCol w="1883520"/>
                <a:gridCol w="1883520"/>
                <a:gridCol w="1883520"/>
                <a:gridCol w="1892520"/>
              </a:tblGrid>
              <a:tr h="3542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Registro</a:t>
                      </a:r>
                      <a:endParaRPr lang="pt-B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Campo 1</a:t>
                      </a:r>
                      <a:endParaRPr lang="pt-B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Campo 2</a:t>
                      </a:r>
                      <a:endParaRPr lang="pt-B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Campo 3</a:t>
                      </a:r>
                      <a:endParaRPr lang="pt-B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Campo 4</a:t>
                      </a:r>
                      <a:endParaRPr lang="pt-B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542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pt-B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42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pt-B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42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pt-B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97" name="TextBox 15"/>
          <p:cNvSpPr/>
          <p:nvPr/>
        </p:nvSpPr>
        <p:spPr>
          <a:xfrm>
            <a:off x="502920" y="4892040"/>
            <a:ext cx="2376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alibri"/>
              </a:rPr>
              <a:t>Nome da tabela 3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Rectangle 16"/>
          <p:cNvSpPr/>
          <p:nvPr/>
        </p:nvSpPr>
        <p:spPr>
          <a:xfrm>
            <a:off x="502920" y="5239440"/>
            <a:ext cx="2376720" cy="1069200"/>
          </a:xfrm>
          <a:prstGeom prst="rect">
            <a:avLst/>
          </a:prstGeom>
          <a:solidFill>
            <a:srgbClr val="FFFFFF"/>
          </a:solidFill>
          <a:ln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Clique aqui e escreva a resposta da equipe...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99" name="Table 17"/>
          <p:cNvGraphicFramePr/>
          <p:nvPr/>
        </p:nvGraphicFramePr>
        <p:xfrm>
          <a:off x="3017520" y="4892040"/>
          <a:ext cx="8640000" cy="1416960"/>
        </p:xfrm>
        <a:graphic>
          <a:graphicData uri="http://schemas.openxmlformats.org/drawingml/2006/table">
            <a:tbl>
              <a:tblPr/>
              <a:tblGrid>
                <a:gridCol w="1097280"/>
                <a:gridCol w="1883520"/>
                <a:gridCol w="1883520"/>
                <a:gridCol w="1883520"/>
                <a:gridCol w="1892520"/>
              </a:tblGrid>
              <a:tr h="3542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Registro</a:t>
                      </a:r>
                      <a:endParaRPr lang="pt-B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Campo 1</a:t>
                      </a:r>
                      <a:endParaRPr lang="pt-B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Campo 2</a:t>
                      </a:r>
                      <a:endParaRPr lang="pt-B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Campo 3</a:t>
                      </a:r>
                      <a:endParaRPr lang="pt-B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Campo 4</a:t>
                      </a:r>
                      <a:endParaRPr lang="pt-B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542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pt-B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42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pt-B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424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pt-B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1" name="Rectangle 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2" name="Rectangle 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3" name="TextBox 4"/>
          <p:cNvSpPr/>
          <p:nvPr/>
        </p:nvSpPr>
        <p:spPr>
          <a:xfrm>
            <a:off x="502920" y="12816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PARTE 4 · MODELAGEM INICIAL DO BANCO DE DADOS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Box 5"/>
          <p:cNvSpPr/>
          <p:nvPr/>
        </p:nvSpPr>
        <p:spPr>
          <a:xfrm>
            <a:off x="502920" y="38412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Revisão da modelagem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Box 6"/>
          <p:cNvSpPr/>
          <p:nvPr/>
        </p:nvSpPr>
        <p:spPr>
          <a:xfrm>
            <a:off x="502920" y="656532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Engenharia de Software — 2º ano — D.S.  |  Grupo: __________________________  |  Turma: __________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Box 7"/>
          <p:cNvSpPr/>
          <p:nvPr/>
        </p:nvSpPr>
        <p:spPr>
          <a:xfrm>
            <a:off x="11292840" y="65653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54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07" name="Table 8"/>
          <p:cNvGraphicFramePr/>
          <p:nvPr/>
        </p:nvGraphicFramePr>
        <p:xfrm>
          <a:off x="502920" y="1280160"/>
          <a:ext cx="11155320" cy="5119200"/>
        </p:xfrm>
        <a:graphic>
          <a:graphicData uri="http://schemas.openxmlformats.org/drawingml/2006/table">
            <a:tbl>
              <a:tblPr/>
              <a:tblGrid>
                <a:gridCol w="5760720"/>
                <a:gridCol w="1280160"/>
                <a:gridCol w="4114800"/>
              </a:tblGrid>
              <a:tr h="5688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Pergunta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Sim/Não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Explicação ou ajuste necessário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5688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O banco consegue identificar cada registro de forma única?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88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As funcionalidades escolhidas encontram todos os dados de que precisam?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88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É possível descobrir quem realizou cada operação?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88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É possível consultar o histórico de operações?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88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Existem informações repetidas desnecessariamente?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88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Os campos obrigatórios realmente são necessários?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88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Os campos únicos realmente não podem se repetir?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8800">
                <a:tc>
                  <a:txBody>
                    <a:bodyPr lIns="54720" tIns="27360" rIns="5472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Os relacionamentos representam corretamente o sistema?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27360" rIns="54720" bIns="27360" anchor="ctr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F3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9" name="TextBox 2"/>
          <p:cNvSpPr/>
          <p:nvPr/>
        </p:nvSpPr>
        <p:spPr>
          <a:xfrm>
            <a:off x="822960" y="2743200"/>
            <a:ext cx="10514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Projeto concluído!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Box 3"/>
          <p:cNvSpPr/>
          <p:nvPr/>
        </p:nvSpPr>
        <p:spPr>
          <a:xfrm>
            <a:off x="822960" y="35204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DCE9F5"/>
                </a:solidFill>
                <a:effectLst/>
                <a:uFillTx/>
                <a:latin typeface="Calibri"/>
              </a:rPr>
              <a:t>Revisem todas as partes antes da entrega final e preparem-se para apresentar o sistema à turma.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2026-08-10T11:39:17Z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